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1430000" cy="3810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45" d="100"/>
          <a:sy n="145" d="100"/>
        </p:scale>
        <p:origin x="184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Original editable figure for Are Self-Evolving Agent Skills Learning Skills? Protocol basis: paper/maintext-20260921/skillsbench-variants.tex and full-variant-records-20260922 audit. Paired difference is final skill versus no skill on the same variant, not pre-evolution versus post-evolution. Workflow figure design reference only: Wang et al. (2026), SAGE, Figure 1, https://aclanthology.org/2026.acl-long.69.pdf. No image or diagram copied.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Conceptual synthesis of the inspected SkillEvolver, SPARK, and CoEvoSkills artifact and execution cases in paper/audits/variant-maintext-20260921/skill-reuse-writing-revision-20260922.md. This is an interpretation of observed cases, not a causal ablation, learned mechanism measurement, or universal description of any method. No method identity is assigned to a pathway. Visual reference only: SAGE Figure 1, https://aclanthology.org/2026.acl-long.69.pdf. Original editable shapes and connectors.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多文档 13">
            <a:extLst>
              <a:ext uri="{FF2B5EF4-FFF2-40B4-BE49-F238E27FC236}">
                <a16:creationId xmlns:a16="http://schemas.microsoft.com/office/drawing/2014/main" id="{E411CD23-241B-F1C1-A16A-CE0F56467CD0}"/>
              </a:ext>
            </a:extLst>
          </p:cNvPr>
          <p:cNvSpPr/>
          <p:nvPr/>
        </p:nvSpPr>
        <p:spPr>
          <a:xfrm>
            <a:off x="281354" y="1055077"/>
            <a:ext cx="1318846" cy="1371600"/>
          </a:xfrm>
          <a:prstGeom prst="flowChartMultidocumen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</a:p>
          <a:p>
            <a:pPr algn="ctr"/>
            <a:r>
              <a:rPr kumimoji="1" lang="en" altLang="zh-CN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endParaRPr kumimoji="1" lang="zh-CN" altLang="en-US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剪去单角的矩形 17">
            <a:extLst>
              <a:ext uri="{FF2B5EF4-FFF2-40B4-BE49-F238E27FC236}">
                <a16:creationId xmlns:a16="http://schemas.microsoft.com/office/drawing/2014/main" id="{1AE4F995-7D94-BF79-B9F5-3503A60D742C}"/>
              </a:ext>
            </a:extLst>
          </p:cNvPr>
          <p:cNvSpPr/>
          <p:nvPr/>
        </p:nvSpPr>
        <p:spPr>
          <a:xfrm>
            <a:off x="2198077" y="1046285"/>
            <a:ext cx="1740877" cy="1397977"/>
          </a:xfrm>
          <a:prstGeom prst="snip1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SKILL.md</a:t>
            </a:r>
            <a:endParaRPr kumimoji="1" lang="en" altLang="zh-CN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kumimoji="1" lang="en" altLang="zh-CN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kumimoji="1" lang="en" altLang="zh-CN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Rules</a:t>
            </a:r>
          </a:p>
          <a:p>
            <a:pPr algn="ctr"/>
            <a:r>
              <a:rPr kumimoji="1" lang="en" altLang="zh-CN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Checks</a:t>
            </a:r>
            <a:endParaRPr kumimoji="1" lang="zh-CN" altLang="en-US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97BFB613-8E2E-8478-D70B-160DE45795DC}"/>
              </a:ext>
            </a:extLst>
          </p:cNvPr>
          <p:cNvSpPr/>
          <p:nvPr/>
        </p:nvSpPr>
        <p:spPr>
          <a:xfrm>
            <a:off x="4668715" y="852854"/>
            <a:ext cx="2822333" cy="6594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P1   Surface form</a:t>
            </a:r>
          </a:p>
          <a:p>
            <a:pPr algn="ctr"/>
            <a:r>
              <a:rPr kumimoji="1" lang="en" altLang="zh-CN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 b  c  →  c  a  b</a:t>
            </a:r>
            <a:endParaRPr kumimoji="1" lang="zh-CN" altLang="en-US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01437989-F5CA-50C6-ADD3-874B92892DBE}"/>
              </a:ext>
            </a:extLst>
          </p:cNvPr>
          <p:cNvSpPr/>
          <p:nvPr/>
        </p:nvSpPr>
        <p:spPr>
          <a:xfrm>
            <a:off x="4668715" y="1679331"/>
            <a:ext cx="2822333" cy="6506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P2   Task instance</a:t>
            </a:r>
          </a:p>
          <a:p>
            <a:pPr algn="ctr"/>
            <a:r>
              <a:rPr kumimoji="1" lang="en" altLang="zh-CN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x₁  →  x₂</a:t>
            </a:r>
            <a:endParaRPr kumimoji="1" lang="zh-CN" altLang="en-US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A892934D-E756-8FF2-B767-A72DA050F10E}"/>
              </a:ext>
            </a:extLst>
          </p:cNvPr>
          <p:cNvSpPr/>
          <p:nvPr/>
        </p:nvSpPr>
        <p:spPr>
          <a:xfrm>
            <a:off x="4668715" y="2444262"/>
            <a:ext cx="2822333" cy="71217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P3   Requirements</a:t>
            </a:r>
          </a:p>
          <a:p>
            <a:pPr algn="ctr"/>
            <a:r>
              <a:rPr kumimoji="1" lang="en" altLang="zh-CN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 →  C + new constraint</a:t>
            </a:r>
            <a:endParaRPr kumimoji="1" lang="zh-CN" altLang="en-US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B95B6EEA-1B38-2A05-A137-02DF6DCFD371}"/>
              </a:ext>
            </a:extLst>
          </p:cNvPr>
          <p:cNvSpPr/>
          <p:nvPr/>
        </p:nvSpPr>
        <p:spPr>
          <a:xfrm>
            <a:off x="8379069" y="1046285"/>
            <a:ext cx="2734408" cy="6330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Executor + skill</a:t>
            </a:r>
            <a:endParaRPr kumimoji="1" lang="zh-CN" altLang="en-US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C125AD78-9471-F60E-585D-9E79B45CC93F}"/>
              </a:ext>
            </a:extLst>
          </p:cNvPr>
          <p:cNvSpPr/>
          <p:nvPr/>
        </p:nvSpPr>
        <p:spPr>
          <a:xfrm>
            <a:off x="8379069" y="1905000"/>
            <a:ext cx="2734408" cy="6096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Executor only</a:t>
            </a:r>
            <a:endParaRPr kumimoji="1" lang="zh-CN" altLang="en-US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C1F431D-C2EC-0A27-573B-D122D2B06D71}"/>
              </a:ext>
            </a:extLst>
          </p:cNvPr>
          <p:cNvSpPr txBox="1"/>
          <p:nvPr/>
        </p:nvSpPr>
        <p:spPr>
          <a:xfrm>
            <a:off x="281354" y="606669"/>
            <a:ext cx="3657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3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 Skill construction</a:t>
            </a:r>
            <a:endParaRPr kumimoji="1" lang="zh-CN" altLang="en-US" sz="13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0A2271D-32CC-831A-A226-FEEC596FB99A}"/>
              </a:ext>
            </a:extLst>
          </p:cNvPr>
          <p:cNvSpPr txBox="1"/>
          <p:nvPr/>
        </p:nvSpPr>
        <p:spPr>
          <a:xfrm>
            <a:off x="8379069" y="2980592"/>
            <a:ext cx="283112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3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task and verifier</a:t>
            </a:r>
          </a:p>
          <a:p>
            <a:r>
              <a:rPr kumimoji="1" lang="en" altLang="zh-CN" sz="13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Paired reward difference (</a:t>
            </a:r>
            <a:r>
              <a:rPr kumimoji="1" lang="el-GR" altLang="zh-CN" sz="13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Δ)</a:t>
            </a:r>
            <a:endParaRPr kumimoji="1" lang="zh-CN" altLang="en-US" sz="13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588D8B0-D462-4F97-6B50-0A7ED3DC4A06}"/>
              </a:ext>
            </a:extLst>
          </p:cNvPr>
          <p:cNvSpPr txBox="1"/>
          <p:nvPr/>
        </p:nvSpPr>
        <p:spPr>
          <a:xfrm>
            <a:off x="281354" y="149469"/>
            <a:ext cx="1061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Evaluating the scope of learned skill utility</a:t>
            </a:r>
            <a:endParaRPr kumimoji="1" lang="zh-CN" alt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EFA545B-7004-BBD0-2643-34FF18FFE5B1}"/>
              </a:ext>
            </a:extLst>
          </p:cNvPr>
          <p:cNvSpPr txBox="1"/>
          <p:nvPr/>
        </p:nvSpPr>
        <p:spPr>
          <a:xfrm>
            <a:off x="4668715" y="606669"/>
            <a:ext cx="294542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3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(b) Controlled changes</a:t>
            </a:r>
            <a:endParaRPr kumimoji="1" lang="zh-CN" altLang="en-US" sz="13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D3091B9-0C42-865D-C56B-AC84520542A5}"/>
              </a:ext>
            </a:extLst>
          </p:cNvPr>
          <p:cNvSpPr txBox="1"/>
          <p:nvPr/>
        </p:nvSpPr>
        <p:spPr>
          <a:xfrm>
            <a:off x="8379069" y="606669"/>
            <a:ext cx="283112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3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(c) Paired evaluation</a:t>
            </a:r>
            <a:endParaRPr kumimoji="1" lang="zh-CN" altLang="en-US" sz="13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6ADAC2F8-3FD6-D141-D0B3-A80AB20D3E2E}"/>
              </a:ext>
            </a:extLst>
          </p:cNvPr>
          <p:cNvCxnSpPr>
            <a:stCxn id="14" idx="3"/>
            <a:endCxn id="18" idx="2"/>
          </p:cNvCxnSpPr>
          <p:nvPr/>
        </p:nvCxnSpPr>
        <p:spPr>
          <a:xfrm>
            <a:off x="1600200" y="1740877"/>
            <a:ext cx="597877" cy="4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45F87F4B-0183-6F3A-7F05-FBA253A166E0}"/>
              </a:ext>
            </a:extLst>
          </p:cNvPr>
          <p:cNvCxnSpPr/>
          <p:nvPr/>
        </p:nvCxnSpPr>
        <p:spPr>
          <a:xfrm>
            <a:off x="940777" y="2426677"/>
            <a:ext cx="0" cy="923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257CCE2F-3062-DBE4-EBCC-3B023777A7FD}"/>
              </a:ext>
            </a:extLst>
          </p:cNvPr>
          <p:cNvCxnSpPr/>
          <p:nvPr/>
        </p:nvCxnSpPr>
        <p:spPr>
          <a:xfrm>
            <a:off x="940777" y="3349869"/>
            <a:ext cx="33498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连接符 59">
            <a:extLst>
              <a:ext uri="{FF2B5EF4-FFF2-40B4-BE49-F238E27FC236}">
                <a16:creationId xmlns:a16="http://schemas.microsoft.com/office/drawing/2014/main" id="{3B03E6AB-592E-7EE2-0A41-C3C227402DD8}"/>
              </a:ext>
            </a:extLst>
          </p:cNvPr>
          <p:cNvCxnSpPr/>
          <p:nvPr/>
        </p:nvCxnSpPr>
        <p:spPr>
          <a:xfrm flipV="1">
            <a:off x="4290646" y="1182565"/>
            <a:ext cx="0" cy="2167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DCD20326-D928-B2B1-5075-6BB0CB9F67E1}"/>
              </a:ext>
            </a:extLst>
          </p:cNvPr>
          <p:cNvCxnSpPr>
            <a:endCxn id="22" idx="1"/>
          </p:cNvCxnSpPr>
          <p:nvPr/>
        </p:nvCxnSpPr>
        <p:spPr>
          <a:xfrm>
            <a:off x="4290646" y="1182565"/>
            <a:ext cx="37806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箭头连接符 63">
            <a:extLst>
              <a:ext uri="{FF2B5EF4-FFF2-40B4-BE49-F238E27FC236}">
                <a16:creationId xmlns:a16="http://schemas.microsoft.com/office/drawing/2014/main" id="{68564BE0-1FA3-5716-D9F3-B869C6985DFE}"/>
              </a:ext>
            </a:extLst>
          </p:cNvPr>
          <p:cNvCxnSpPr>
            <a:endCxn id="31" idx="1"/>
          </p:cNvCxnSpPr>
          <p:nvPr/>
        </p:nvCxnSpPr>
        <p:spPr>
          <a:xfrm>
            <a:off x="4290646" y="2004646"/>
            <a:ext cx="37806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EE245816-C7E1-78B6-66EC-52B6DE4CF843}"/>
              </a:ext>
            </a:extLst>
          </p:cNvPr>
          <p:cNvCxnSpPr>
            <a:endCxn id="32" idx="1"/>
          </p:cNvCxnSpPr>
          <p:nvPr/>
        </p:nvCxnSpPr>
        <p:spPr>
          <a:xfrm>
            <a:off x="4290646" y="2800350"/>
            <a:ext cx="3780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BC6887C6-E034-5AE7-255F-B218B976677A}"/>
              </a:ext>
            </a:extLst>
          </p:cNvPr>
          <p:cNvSpPr txBox="1"/>
          <p:nvPr/>
        </p:nvSpPr>
        <p:spPr>
          <a:xfrm>
            <a:off x="2198077" y="2514600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once</a:t>
            </a:r>
          </a:p>
          <a:p>
            <a:r>
              <a:rPr kumimoji="1" lang="en" altLang="zh-CN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Freeze the artifact</a:t>
            </a:r>
            <a:endParaRPr kumimoji="1" lang="zh-CN" altLang="en-US" sz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4BFB86FF-E35A-61D9-DB9B-4E48A1DDB380}"/>
              </a:ext>
            </a:extLst>
          </p:cNvPr>
          <p:cNvCxnSpPr>
            <a:stCxn id="18" idx="3"/>
          </p:cNvCxnSpPr>
          <p:nvPr/>
        </p:nvCxnSpPr>
        <p:spPr>
          <a:xfrm flipH="1" flipV="1">
            <a:off x="3068515" y="518801"/>
            <a:ext cx="1" cy="5274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F3DB357F-9B5E-734F-449A-5605217E254A}"/>
              </a:ext>
            </a:extLst>
          </p:cNvPr>
          <p:cNvCxnSpPr/>
          <p:nvPr/>
        </p:nvCxnSpPr>
        <p:spPr>
          <a:xfrm>
            <a:off x="3068515" y="518801"/>
            <a:ext cx="50116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A11E4849-9461-D2FD-48FE-3A4BCF180F17}"/>
              </a:ext>
            </a:extLst>
          </p:cNvPr>
          <p:cNvCxnSpPr/>
          <p:nvPr/>
        </p:nvCxnSpPr>
        <p:spPr>
          <a:xfrm>
            <a:off x="8080131" y="518801"/>
            <a:ext cx="0" cy="84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1C4BCF21-E412-152C-D632-A8A782ED3BEB}"/>
              </a:ext>
            </a:extLst>
          </p:cNvPr>
          <p:cNvCxnSpPr>
            <a:endCxn id="33" idx="1"/>
          </p:cNvCxnSpPr>
          <p:nvPr/>
        </p:nvCxnSpPr>
        <p:spPr>
          <a:xfrm>
            <a:off x="8080131" y="1362808"/>
            <a:ext cx="2989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83B0E26E-D27D-4114-926C-0435E7BC2F1D}"/>
              </a:ext>
            </a:extLst>
          </p:cNvPr>
          <p:cNvCxnSpPr>
            <a:stCxn id="22" idx="3"/>
          </p:cNvCxnSpPr>
          <p:nvPr/>
        </p:nvCxnSpPr>
        <p:spPr>
          <a:xfrm flipV="1">
            <a:off x="7491048" y="1182565"/>
            <a:ext cx="2725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C56733C6-7CC7-6C7A-89B4-8E5210045CF1}"/>
              </a:ext>
            </a:extLst>
          </p:cNvPr>
          <p:cNvCxnSpPr>
            <a:stCxn id="31" idx="3"/>
          </p:cNvCxnSpPr>
          <p:nvPr/>
        </p:nvCxnSpPr>
        <p:spPr>
          <a:xfrm flipV="1">
            <a:off x="7491048" y="2004646"/>
            <a:ext cx="2725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E837CD67-3F8B-EC42-7B5D-9EF7303099A2}"/>
              </a:ext>
            </a:extLst>
          </p:cNvPr>
          <p:cNvCxnSpPr>
            <a:stCxn id="32" idx="3"/>
          </p:cNvCxnSpPr>
          <p:nvPr/>
        </p:nvCxnSpPr>
        <p:spPr>
          <a:xfrm>
            <a:off x="7491048" y="2800350"/>
            <a:ext cx="272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7D249BC6-0B8B-6AD3-CB4B-F7C9A256C1EE}"/>
              </a:ext>
            </a:extLst>
          </p:cNvPr>
          <p:cNvCxnSpPr/>
          <p:nvPr/>
        </p:nvCxnSpPr>
        <p:spPr>
          <a:xfrm>
            <a:off x="7763608" y="1182565"/>
            <a:ext cx="0" cy="1617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80F1E8DC-23CE-1A89-81C2-2A27D1E298AE}"/>
              </a:ext>
            </a:extLst>
          </p:cNvPr>
          <p:cNvCxnSpPr/>
          <p:nvPr/>
        </p:nvCxnSpPr>
        <p:spPr>
          <a:xfrm>
            <a:off x="7763608" y="1512277"/>
            <a:ext cx="6154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166913B9-BE93-89EE-BFCA-94B797C9FD3F}"/>
              </a:ext>
            </a:extLst>
          </p:cNvPr>
          <p:cNvCxnSpPr>
            <a:endCxn id="36" idx="1"/>
          </p:cNvCxnSpPr>
          <p:nvPr/>
        </p:nvCxnSpPr>
        <p:spPr>
          <a:xfrm>
            <a:off x="7763608" y="2209800"/>
            <a:ext cx="6154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BF7A7619-6237-8C69-330A-6F65A8C114A3}"/>
              </a:ext>
            </a:extLst>
          </p:cNvPr>
          <p:cNvCxnSpPr>
            <a:stCxn id="36" idx="2"/>
            <a:endCxn id="39" idx="0"/>
          </p:cNvCxnSpPr>
          <p:nvPr/>
        </p:nvCxnSpPr>
        <p:spPr>
          <a:xfrm>
            <a:off x="9746273" y="2514600"/>
            <a:ext cx="48358" cy="465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FD7DD325-DD7D-28DE-C2D2-1BD4B44E3A9B}"/>
              </a:ext>
            </a:extLst>
          </p:cNvPr>
          <p:cNvCxnSpPr>
            <a:stCxn id="33" idx="3"/>
          </p:cNvCxnSpPr>
          <p:nvPr/>
        </p:nvCxnSpPr>
        <p:spPr>
          <a:xfrm>
            <a:off x="11113477" y="1362808"/>
            <a:ext cx="967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8B92C73A-9BFB-1450-A17B-134F5ABDCFD8}"/>
              </a:ext>
            </a:extLst>
          </p:cNvPr>
          <p:cNvCxnSpPr/>
          <p:nvPr/>
        </p:nvCxnSpPr>
        <p:spPr>
          <a:xfrm>
            <a:off x="11210192" y="1362808"/>
            <a:ext cx="0" cy="14375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57B5A516-305A-69C7-D1ED-E0A65CEEB221}"/>
              </a:ext>
            </a:extLst>
          </p:cNvPr>
          <p:cNvCxnSpPr>
            <a:endCxn id="39" idx="0"/>
          </p:cNvCxnSpPr>
          <p:nvPr/>
        </p:nvCxnSpPr>
        <p:spPr>
          <a:xfrm flipH="1">
            <a:off x="9794631" y="2800350"/>
            <a:ext cx="1415561" cy="180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15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756809DF-CA5A-46F1-9B64-1E68B40C3A6E}"/>
              </a:ext>
            </a:extLst>
          </p:cNvPr>
          <p:cNvSpPr>
            <a:spLocks noGrp="1"/>
          </p:cNvSpPr>
          <p:nvPr/>
        </p:nvSpPr>
        <p:spPr>
          <a:xfrm>
            <a:off x="190500" y="76200"/>
            <a:ext cx="110490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1">
                <a:solidFill>
                  <a:srgbClr val="2334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446"/>
                </a:solidFill>
                <a:latin typeface="Arial"/>
                <a:ea typeface="Arial"/>
                <a:cs typeface="Arial"/>
              </a:rPr>
              <a:t>Reusable decisions in the inspected skill artifacts and execution traces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A12F83-904D-401B-9BCF-E7F10BFA708F}"/>
              </a:ext>
            </a:extLst>
          </p:cNvPr>
          <p:cNvSpPr>
            <a:spLocks noGrp="1"/>
          </p:cNvSpPr>
          <p:nvPr/>
        </p:nvSpPr>
        <p:spPr>
          <a:xfrm>
            <a:off x="190500" y="571500"/>
            <a:ext cx="23622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2334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3446"/>
                </a:solidFill>
                <a:latin typeface="Arial"/>
                <a:ea typeface="Arial"/>
                <a:cs typeface="Arial"/>
              </a:rPr>
              <a:t>Skill content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6A30C7-F56F-4EB5-8AE5-58A783A16AB4}"/>
              </a:ext>
            </a:extLst>
          </p:cNvPr>
          <p:cNvSpPr>
            <a:spLocks noGrp="1"/>
          </p:cNvSpPr>
          <p:nvPr/>
        </p:nvSpPr>
        <p:spPr>
          <a:xfrm>
            <a:off x="3343275" y="571500"/>
            <a:ext cx="44862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2334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3446"/>
                </a:solidFill>
                <a:latin typeface="Arial"/>
                <a:ea typeface="Arial"/>
                <a:cs typeface="Arial"/>
              </a:rPr>
              <a:t>Execution on a changed task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218A2C-8ADB-4100-A7E7-A8B1678C78B0}"/>
              </a:ext>
            </a:extLst>
          </p:cNvPr>
          <p:cNvSpPr>
            <a:spLocks noGrp="1"/>
          </p:cNvSpPr>
          <p:nvPr/>
        </p:nvSpPr>
        <p:spPr>
          <a:xfrm>
            <a:off x="8648700" y="571500"/>
            <a:ext cx="26289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2334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3446"/>
                </a:solidFill>
                <a:latin typeface="Arial"/>
                <a:ea typeface="Arial"/>
                <a:cs typeface="Arial"/>
              </a:rPr>
              <a:t>Observed outcome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1CD9EA6-B28A-443B-9C05-CB08AC2B2A7D}"/>
              </a:ext>
            </a:extLst>
          </p:cNvPr>
          <p:cNvSpPr>
            <a:spLocks noGrp="1"/>
          </p:cNvSpPr>
          <p:nvPr/>
        </p:nvSpPr>
        <p:spPr>
          <a:xfrm>
            <a:off x="190500" y="981075"/>
            <a:ext cx="2428875" cy="1257300"/>
          </a:xfrm>
          <a:prstGeom prst="roundRect">
            <a:avLst>
              <a:gd name="adj" fmla="val 5303"/>
            </a:avLst>
          </a:prstGeom>
          <a:solidFill>
            <a:srgbClr val="E5EFF8"/>
          </a:solidFill>
          <a:ln w="13335">
            <a:solidFill>
              <a:srgbClr val="5E83A5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6EF3FF-1C3B-41B7-8F32-BE9D3A5D51A0}"/>
              </a:ext>
            </a:extLst>
          </p:cNvPr>
          <p:cNvSpPr>
            <a:spLocks noGrp="1"/>
          </p:cNvSpPr>
          <p:nvPr/>
        </p:nvSpPr>
        <p:spPr>
          <a:xfrm>
            <a:off x="314325" y="1095375"/>
            <a:ext cx="2181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2334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3446"/>
                </a:solidFill>
                <a:latin typeface="Arial"/>
                <a:ea typeface="Arial"/>
                <a:cs typeface="Arial"/>
              </a:rPr>
              <a:t>Diagnostic rules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641AB2-5AB2-49AA-A460-7AAEF6B2A82D}"/>
              </a:ext>
            </a:extLst>
          </p:cNvPr>
          <p:cNvSpPr>
            <a:spLocks noGrp="1"/>
          </p:cNvSpPr>
          <p:nvPr/>
        </p:nvSpPr>
        <p:spPr>
          <a:xfrm>
            <a:off x="314325" y="1495425"/>
            <a:ext cx="21812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2334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446"/>
                </a:solidFill>
                <a:latin typeface="Arial"/>
                <a:ea typeface="Arial"/>
                <a:cs typeface="Arial"/>
              </a:rPr>
              <a:t>When to revise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6D9EC2-67E5-4012-B727-453154A5C3FC}"/>
              </a:ext>
            </a:extLst>
          </p:cNvPr>
          <p:cNvSpPr>
            <a:spLocks noGrp="1"/>
          </p:cNvSpPr>
          <p:nvPr/>
        </p:nvSpPr>
        <p:spPr>
          <a:xfrm>
            <a:off x="314325" y="1866900"/>
            <a:ext cx="21812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2334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3446"/>
                </a:solidFill>
                <a:latin typeface="Arial"/>
                <a:ea typeface="Arial"/>
                <a:cs typeface="Arial"/>
              </a:rPr>
              <a:t>Output constraints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0C5753A-CCFD-46AB-A994-0B26B02FED08}"/>
              </a:ext>
            </a:extLst>
          </p:cNvPr>
          <p:cNvSpPr>
            <a:spLocks noGrp="1"/>
          </p:cNvSpPr>
          <p:nvPr/>
        </p:nvSpPr>
        <p:spPr>
          <a:xfrm>
            <a:off x="3324225" y="981075"/>
            <a:ext cx="4524375" cy="1257300"/>
          </a:xfrm>
          <a:prstGeom prst="roundRect">
            <a:avLst>
              <a:gd name="adj" fmla="val 5303"/>
            </a:avLst>
          </a:prstGeom>
          <a:solidFill>
            <a:srgbClr val="E5F1E9"/>
          </a:solidFill>
          <a:ln w="13335">
            <a:solidFill>
              <a:srgbClr val="54836A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9F7D687-692F-4024-BBD4-1576FD8BD39A}"/>
              </a:ext>
            </a:extLst>
          </p:cNvPr>
          <p:cNvSpPr>
            <a:spLocks noGrp="1"/>
          </p:cNvSpPr>
          <p:nvPr/>
        </p:nvSpPr>
        <p:spPr>
          <a:xfrm>
            <a:off x="3467100" y="1076325"/>
            <a:ext cx="42291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23344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446"/>
                </a:solidFill>
                <a:latin typeface="Arial"/>
                <a:ea typeface="Arial"/>
                <a:cs typeface="Arial"/>
              </a:rPr>
              <a:t>Adapt inputs and solution construction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62899D-17FC-48BE-93B7-0CD511EFA8B0}"/>
              </a:ext>
            </a:extLst>
          </p:cNvPr>
          <p:cNvSpPr>
            <a:spLocks noGrp="1"/>
          </p:cNvSpPr>
          <p:nvPr/>
        </p:nvSpPr>
        <p:spPr>
          <a:xfrm>
            <a:off x="3467100" y="148590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2334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446"/>
                </a:solidFill>
                <a:latin typeface="Arial"/>
                <a:ea typeface="Arial"/>
                <a:cs typeface="Arial"/>
              </a:rPr>
              <a:t>Keep the diagnostic rule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0870F1-4FF0-477B-970C-FDC0B44A0E35}"/>
              </a:ext>
            </a:extLst>
          </p:cNvPr>
          <p:cNvSpPr>
            <a:spLocks noGrp="1"/>
          </p:cNvSpPr>
          <p:nvPr/>
        </p:nvSpPr>
        <p:spPr>
          <a:xfrm>
            <a:off x="3467100" y="1838325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2334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446"/>
                </a:solidFill>
                <a:latin typeface="Arial"/>
                <a:ea typeface="Arial"/>
                <a:cs typeface="Arial"/>
              </a:rPr>
              <a:t>Preserve and check task constraints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FBE8B27-72E0-4518-8663-FDBCFFE48A7E}"/>
              </a:ext>
            </a:extLst>
          </p:cNvPr>
          <p:cNvSpPr>
            <a:spLocks noGrp="1"/>
          </p:cNvSpPr>
          <p:nvPr/>
        </p:nvSpPr>
        <p:spPr>
          <a:xfrm>
            <a:off x="8620125" y="981075"/>
            <a:ext cx="2590800" cy="1257300"/>
          </a:xfrm>
          <a:prstGeom prst="roundRect">
            <a:avLst>
              <a:gd name="adj" fmla="val 5303"/>
            </a:avLst>
          </a:prstGeom>
          <a:solidFill>
            <a:srgbClr val="E5F1E9"/>
          </a:solidFill>
          <a:ln w="13335">
            <a:solidFill>
              <a:srgbClr val="54836A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D896AB-64F9-42FC-A6AE-023CF4761AFD}"/>
              </a:ext>
            </a:extLst>
          </p:cNvPr>
          <p:cNvSpPr>
            <a:spLocks noGrp="1"/>
          </p:cNvSpPr>
          <p:nvPr/>
        </p:nvSpPr>
        <p:spPr>
          <a:xfrm>
            <a:off x="8763000" y="1219200"/>
            <a:ext cx="23050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00" b="1">
                <a:solidFill>
                  <a:srgbClr val="54836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4836A"/>
                </a:solidFill>
                <a:latin typeface="Arial"/>
                <a:ea typeface="Arial"/>
                <a:cs typeface="Arial"/>
              </a:rPr>
              <a:t>Successful reuse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314EE60-D3D7-49B9-BA00-661B11A331F2}"/>
              </a:ext>
            </a:extLst>
          </p:cNvPr>
          <p:cNvSpPr>
            <a:spLocks noGrp="1"/>
          </p:cNvSpPr>
          <p:nvPr/>
        </p:nvSpPr>
        <p:spPr>
          <a:xfrm>
            <a:off x="8763000" y="1628775"/>
            <a:ext cx="23050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2334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446"/>
                </a:solidFill>
                <a:latin typeface="Arial"/>
                <a:ea typeface="Arial"/>
                <a:cs typeface="Arial"/>
              </a:rPr>
              <a:t>Rules remain effective</a:t>
            </a:r>
          </a:p>
          <a:p>
            <a:pPr algn="ctr">
              <a:defRPr sz="1575" b="0">
                <a:solidFill>
                  <a:srgbClr val="2334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446"/>
                </a:solidFill>
                <a:latin typeface="Arial"/>
                <a:ea typeface="Arial"/>
                <a:cs typeface="Arial"/>
              </a:rPr>
              <a:t>after the task changes</a:t>
            </a:r>
          </a:p>
        </p:txBody>
      </p:sp>
      <p:cxnSp>
        <p:nvCxnSpPr>
          <p:cNvPr id="42" name="直线箭头连接符 41"/>
          <p:cNvCxnSpPr>
            <a:stCxn id="5" idx="3"/>
            <a:endCxn id="9" idx="1"/>
          </p:cNvCxnSpPr>
          <p:nvPr/>
        </p:nvCxnSpPr>
        <p:spPr>
          <a:xfrm>
            <a:off x="2619375" y="1609725"/>
            <a:ext cx="704850" cy="0"/>
          </a:xfrm>
          <a:prstGeom prst="straightConnector1">
            <a:avLst/>
          </a:prstGeom>
          <a:ln w="19050">
            <a:solidFill>
              <a:srgbClr val="54836A"/>
            </a:solidFill>
            <a:tailEnd type="triangle" w="sm" len="sm"/>
          </a:ln>
        </p:spPr>
      </p:cxnSp>
      <p:cxnSp>
        <p:nvCxnSpPr>
          <p:cNvPr id="43" name="直线箭头连接符 42"/>
          <p:cNvCxnSpPr>
            <a:stCxn id="9" idx="3"/>
            <a:endCxn id="13" idx="1"/>
          </p:cNvCxnSpPr>
          <p:nvPr/>
        </p:nvCxnSpPr>
        <p:spPr>
          <a:xfrm>
            <a:off x="7848600" y="1609725"/>
            <a:ext cx="771525" cy="0"/>
          </a:xfrm>
          <a:prstGeom prst="straightConnector1">
            <a:avLst/>
          </a:prstGeom>
          <a:ln w="19050">
            <a:solidFill>
              <a:srgbClr val="54836A"/>
            </a:solidFill>
            <a:tailEnd type="triangle" w="sm" len="sm"/>
          </a:ln>
        </p:spPr>
      </p:cxn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815D08A6-4C42-4068-9C28-6D72D90036A8}"/>
              </a:ext>
            </a:extLst>
          </p:cNvPr>
          <p:cNvSpPr>
            <a:spLocks noGrp="1"/>
          </p:cNvSpPr>
          <p:nvPr/>
        </p:nvSpPr>
        <p:spPr>
          <a:xfrm>
            <a:off x="190500" y="2533650"/>
            <a:ext cx="2428875" cy="819150"/>
          </a:xfrm>
          <a:prstGeom prst="roundRect">
            <a:avLst>
              <a:gd name="adj" fmla="val 8140"/>
            </a:avLst>
          </a:prstGeom>
          <a:solidFill>
            <a:srgbClr val="F0F2F4"/>
          </a:solidFill>
          <a:ln w="13335">
            <a:solidFill>
              <a:srgbClr val="728394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ADDAE3E-1078-477A-B691-D956D0883D42}"/>
              </a:ext>
            </a:extLst>
          </p:cNvPr>
          <p:cNvSpPr>
            <a:spLocks noGrp="1"/>
          </p:cNvSpPr>
          <p:nvPr/>
        </p:nvSpPr>
        <p:spPr>
          <a:xfrm>
            <a:off x="314325" y="2657475"/>
            <a:ext cx="218122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650" b="1">
                <a:solidFill>
                  <a:srgbClr val="2334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3446"/>
                </a:solidFill>
                <a:latin typeface="Arial"/>
                <a:ea typeface="Arial"/>
                <a:cs typeface="Arial"/>
              </a:rPr>
              <a:t>Procedure carried over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9A22B623-5C35-46DF-9D64-BC9E50D2D868}"/>
              </a:ext>
            </a:extLst>
          </p:cNvPr>
          <p:cNvSpPr>
            <a:spLocks noGrp="1"/>
          </p:cNvSpPr>
          <p:nvPr/>
        </p:nvSpPr>
        <p:spPr>
          <a:xfrm>
            <a:off x="3324225" y="2533650"/>
            <a:ext cx="4524375" cy="819150"/>
          </a:xfrm>
          <a:prstGeom prst="roundRect">
            <a:avLst>
              <a:gd name="adj" fmla="val 8140"/>
            </a:avLst>
          </a:prstGeom>
          <a:solidFill>
            <a:srgbClr val="F6E5E5"/>
          </a:solidFill>
          <a:ln w="13335">
            <a:solidFill>
              <a:srgbClr val="B67575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859F35C-B3B4-4936-BEEE-04BF53DF84FC}"/>
              </a:ext>
            </a:extLst>
          </p:cNvPr>
          <p:cNvSpPr>
            <a:spLocks noGrp="1"/>
          </p:cNvSpPr>
          <p:nvPr/>
        </p:nvSpPr>
        <p:spPr>
          <a:xfrm>
            <a:off x="3467100" y="2657475"/>
            <a:ext cx="42291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1">
                <a:solidFill>
                  <a:srgbClr val="23344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446"/>
                </a:solidFill>
                <a:latin typeface="Arial"/>
                <a:ea typeface="Arial"/>
                <a:cs typeface="Arial"/>
              </a:rPr>
              <a:t>Required decision or constraint missed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4F0BE5C8-3456-427D-8E68-235C31F15514}"/>
              </a:ext>
            </a:extLst>
          </p:cNvPr>
          <p:cNvSpPr>
            <a:spLocks noGrp="1"/>
          </p:cNvSpPr>
          <p:nvPr/>
        </p:nvSpPr>
        <p:spPr>
          <a:xfrm>
            <a:off x="8620125" y="2533650"/>
            <a:ext cx="2590800" cy="819150"/>
          </a:xfrm>
          <a:prstGeom prst="roundRect">
            <a:avLst>
              <a:gd name="adj" fmla="val 8140"/>
            </a:avLst>
          </a:prstGeom>
          <a:solidFill>
            <a:srgbClr val="F6E5E5"/>
          </a:solidFill>
          <a:ln w="13335">
            <a:solidFill>
              <a:srgbClr val="B67575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49423F8-AECA-4FEE-9703-9C48A5EC0133}"/>
              </a:ext>
            </a:extLst>
          </p:cNvPr>
          <p:cNvSpPr>
            <a:spLocks noGrp="1"/>
          </p:cNvSpPr>
          <p:nvPr/>
        </p:nvSpPr>
        <p:spPr>
          <a:xfrm>
            <a:off x="8763000" y="2657475"/>
            <a:ext cx="230505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1">
                <a:solidFill>
                  <a:srgbClr val="B675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67575"/>
                </a:solidFill>
                <a:latin typeface="Arial"/>
                <a:ea typeface="Arial"/>
                <a:cs typeface="Arial"/>
              </a:rPr>
              <a:t>Verification failure</a:t>
            </a:r>
          </a:p>
        </p:txBody>
      </p:sp>
      <p:cxnSp>
        <p:nvCxnSpPr>
          <p:cNvPr id="50" name="直线箭头连接符 49"/>
          <p:cNvCxnSpPr>
            <a:stCxn id="18" idx="3"/>
            <a:endCxn id="20" idx="1"/>
          </p:cNvCxnSpPr>
          <p:nvPr/>
        </p:nvCxnSpPr>
        <p:spPr>
          <a:xfrm>
            <a:off x="2619375" y="2943225"/>
            <a:ext cx="704850" cy="0"/>
          </a:xfrm>
          <a:prstGeom prst="straightConnector1">
            <a:avLst/>
          </a:prstGeom>
          <a:ln w="19050">
            <a:solidFill>
              <a:srgbClr val="B67575"/>
            </a:solidFill>
            <a:tailEnd type="triangle" w="sm" len="sm"/>
          </a:ln>
        </p:spPr>
      </p:cxnSp>
      <p:cxnSp>
        <p:nvCxnSpPr>
          <p:cNvPr id="51" name="直线箭头连接符 50"/>
          <p:cNvCxnSpPr>
            <a:stCxn id="20" idx="3"/>
            <a:endCxn id="22" idx="1"/>
          </p:cNvCxnSpPr>
          <p:nvPr/>
        </p:nvCxnSpPr>
        <p:spPr>
          <a:xfrm>
            <a:off x="7848600" y="2943225"/>
            <a:ext cx="771525" cy="0"/>
          </a:xfrm>
          <a:prstGeom prst="straightConnector1">
            <a:avLst/>
          </a:prstGeom>
          <a:ln w="19050">
            <a:solidFill>
              <a:srgbClr val="B67575"/>
            </a:solidFill>
            <a:tailEnd type="triangle" w="sm" len="sm"/>
          </a:ln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6FEC1AEE-FF45-4D59-918A-9402DC628407}"/>
              </a:ext>
            </a:extLst>
          </p:cNvPr>
          <p:cNvSpPr>
            <a:spLocks noGrp="1"/>
          </p:cNvSpPr>
          <p:nvPr/>
        </p:nvSpPr>
        <p:spPr>
          <a:xfrm>
            <a:off x="190500" y="3486150"/>
            <a:ext cx="11049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Interpretation of inspected cases: the reusable unit includes a decision and its correctness conditions.</a:t>
            </a:r>
          </a:p>
        </p:txBody>
      </p:sp>
    </p:spTree>
    <p:extLst>
      <p:ext uri="{BB962C8B-B14F-4D97-AF65-F5344CB8AC3E}">
        <p14:creationId xmlns:p14="http://schemas.microsoft.com/office/powerpoint/2010/main" val="18408347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</Words>
  <Application>Microsoft Macintosh PowerPoint</Application>
  <DocSecurity>0</DocSecurity>
  <PresentationFormat>自定义</PresentationFormat>
  <Paragraphs>41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Calibri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崇阳 杜</cp:lastModifiedBy>
  <cp:revision>1</cp:revision>
  <dcterms:created xsi:type="dcterms:W3CDTF">2026-09-22T05:19:56Z</dcterms:created>
  <dcterms:modified xsi:type="dcterms:W3CDTF">2026-09-22T05:40:25Z</dcterms:modified>
</cp:coreProperties>
</file>